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A45"/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33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823460"/>
            <a:ext cx="2926080" cy="2926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-868680" y="566928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PROJECT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Customer &amp; Marketing Analytics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using SQL, Python, Excel &amp; Power BI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Sample Superstore Dataset — Kaggle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1033272" cy="438912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46320"/>
            <a:ext cx="1033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12264" y="4846320"/>
            <a:ext cx="676656" cy="438912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4846320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44952" y="4846320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952" y="48463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15384" y="4846320"/>
            <a:ext cx="1271016" cy="438912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15384" y="4846320"/>
            <a:ext cx="1271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7D2A66-F5B3-EC07-086F-CAB64856CBFB}"/>
              </a:ext>
            </a:extLst>
          </p:cNvPr>
          <p:cNvSpPr txBox="1"/>
          <p:nvPr/>
        </p:nvSpPr>
        <p:spPr>
          <a:xfrm>
            <a:off x="9966960" y="5604439"/>
            <a:ext cx="1939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r>
              <a:rPr lang="en-US" sz="2000" dirty="0">
                <a:solidFill>
                  <a:srgbClr val="1E2761"/>
                </a:solidFill>
              </a:rPr>
              <a:t> </a:t>
            </a:r>
            <a:br>
              <a:rPr lang="en-US" sz="2000" dirty="0"/>
            </a:br>
            <a:r>
              <a:rPr lang="en-US" sz="2000" dirty="0"/>
              <a:t>         </a:t>
            </a:r>
            <a:r>
              <a:rPr lang="en-US" sz="2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</a:rPr>
              <a:t>Govind</a:t>
            </a:r>
            <a:endParaRPr lang="en-US" sz="4400" b="1" dirty="0">
              <a:solidFill>
                <a:srgbClr val="141A45"/>
              </a:solidFill>
              <a:latin typeface="Cambria" pitchFamily="34" charset="0"/>
              <a:ea typeface="Cambria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analytics pipeline — from raw data to executive dashboards — to uncover the drivers of sales and profitability and turn them into concrete business actions.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493008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441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40487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92608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duplicates, data types and outliers in Python.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42816" y="2240280"/>
            <a:ext cx="3493008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43984" y="2441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65776" y="240487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43984" y="292608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EDA to understand distributions and relationships between Sales, Profit, Discount &amp; Quantity.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36992" y="2240280"/>
            <a:ext cx="3493008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441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59952" y="240487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Excel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2926080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fast, spreadsheet-native KPI view for business users.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3493008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151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114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with SQL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636008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targeted business questions with precise, ad-hoc aggregation.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42816" y="3950208"/>
            <a:ext cx="3493008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43984" y="4151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44398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65776" y="4114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Power BI Report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43984" y="4636008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interactive, filterable, executive-level dashboard.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36992" y="3950208"/>
            <a:ext cx="3493008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4151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59952" y="4114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Insights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38160" y="4636008"/>
            <a:ext cx="3090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prioritized, actionable recommendations.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sells across Furniture, Office Supplies and Technology in four U.S. regions. Order volume and sales have grown — but profitability hasn't kept pace.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lacks a unified, data-driven view connecting sales, discounting behaviour and profitability — so decisions on discounting, regional investment and category focus are made without knowing which combinations actually erode margin.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identifies where profit is made and lost, quantifies the role of discounting, and translates the findings into prioritized action.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52360" y="1554480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18745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SOLD AT A LOSS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26680" y="21488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18.73%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726680" y="31546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5 orders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3703320"/>
            <a:ext cx="3611880" cy="0"/>
          </a:xfrm>
          <a:prstGeom prst="line">
            <a:avLst/>
          </a:prstGeom>
          <a:noFill/>
          <a:ln w="12700">
            <a:solidFill>
              <a:srgbClr val="3B44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886200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26680" y="416052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15.63%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69780" y="3886200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69780" y="4160520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~12.3%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726680" y="4892040"/>
            <a:ext cx="3611880" cy="0"/>
          </a:xfrm>
          <a:prstGeom prst="line">
            <a:avLst/>
          </a:prstGeom>
          <a:noFill/>
          <a:ln w="12700">
            <a:solidFill>
              <a:srgbClr val="3B44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50292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correlates negatively with Profit (r = -0.22) — the strongest controllable driver of loss.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 Dataset (Kaggle) — multi-year U.S. retail order-line transactions.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93976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9,977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66090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3552" y="196596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273552" y="2093976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37,820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73552" y="266090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98464" y="196596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98464" y="2093976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₹22.96L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98464" y="266090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23376" y="196596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723376" y="2093976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₹2.86L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723376" y="266090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THE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6210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31720" y="362102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· Office Supplies · Technology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336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513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31720" y="41513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· East · South · West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640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6817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Segments: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331720" y="46817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· Corporate · Home Office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2943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212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Modes: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331720" y="5212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· Second · First Class · Same Day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3703320"/>
            <a:ext cx="4754880" cy="384048"/>
          </a:xfrm>
          <a:prstGeom prst="roundRect">
            <a:avLst>
              <a:gd name="adj" fmla="val 11905"/>
            </a:avLst>
          </a:prstGeom>
          <a:solidFill>
            <a:srgbClr val="F4F7FC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3703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Profit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961120" y="3703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— revenue &amp; margin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4160520"/>
            <a:ext cx="47548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4160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961120" y="4160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— 0% to 80%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4617720"/>
            <a:ext cx="4754880" cy="384048"/>
          </a:xfrm>
          <a:prstGeom prst="roundRect">
            <a:avLst>
              <a:gd name="adj" fmla="val 11905"/>
            </a:avLst>
          </a:prstGeom>
          <a:solidFill>
            <a:srgbClr val="F4F7FC"/>
          </a:solidFill>
          <a:ln/>
        </p:spPr>
      </p:sp>
      <p:sp>
        <p:nvSpPr>
          <p:cNvPr id="38" name="Text 36"/>
          <p:cNvSpPr/>
          <p:nvPr/>
        </p:nvSpPr>
        <p:spPr>
          <a:xfrm>
            <a:off x="6995160" y="4617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961120" y="4617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— units per line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58000" y="5074920"/>
            <a:ext cx="47548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995160" y="5074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/ Ship Date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961120" y="5074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fields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5532120"/>
            <a:ext cx="4754880" cy="384048"/>
          </a:xfrm>
          <a:prstGeom prst="roundRect">
            <a:avLst>
              <a:gd name="adj" fmla="val 11905"/>
            </a:avLst>
          </a:prstGeom>
          <a:solidFill>
            <a:srgbClr val="F4F7FC"/>
          </a:solidFill>
          <a:ln/>
        </p:spPr>
      </p:sp>
      <p:sp>
        <p:nvSpPr>
          <p:cNvPr id="44" name="Text 42"/>
          <p:cNvSpPr/>
          <p:nvPr/>
        </p:nvSpPr>
        <p:spPr>
          <a:xfrm>
            <a:off x="6995160" y="5532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Sub-Category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961120" y="5532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classification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pipeline turns raw transactions into decisions.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65176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8896B5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761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31089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3611880"/>
            <a:ext cx="16550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EDA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32888" y="3264408"/>
            <a:ext cx="3771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10078" y="265176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B7A75"/>
          </a:solidFill>
          <a:ln/>
          <a:effectLst>
            <a:outerShdw blurRad="101600" dist="38100" dir="5400000" algn="bl" rotWithShape="0">
              <a:srgbClr val="8896B5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10078" y="2761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10078" y="31089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19806" y="3611880"/>
            <a:ext cx="16550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business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84598" y="3264408"/>
            <a:ext cx="3771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161788" y="265176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8896B5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61788" y="2761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1788" y="31089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71516" y="3611880"/>
            <a:ext cx="16550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KPI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36308" y="3264408"/>
            <a:ext cx="3771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413498" y="265176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8896B5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13498" y="2761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13498" y="31089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23226" y="3611880"/>
            <a:ext cx="16550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exec.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88018" y="3264408"/>
            <a:ext cx="3771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665208" y="265176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0B4D8"/>
          </a:solidFill>
          <a:ln/>
          <a:effectLst>
            <a:outerShdw blurRad="101600" dist="38100" dir="5400000" algn="bl" rotWithShape="0">
              <a:srgbClr val="8896B5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65208" y="2761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65208" y="31089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774936" y="3611880"/>
            <a:ext cx="16550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892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cross-validates the last: Python's EDA findings reappear in SQL aggregates, and both are visualized identically across the Excel and Power BI dashboards — giving high confidence in the final recommendations.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&amp; EXPLORATION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Cleaning &amp; EDA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Key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10896" cy="310896"/>
          </a:xfrm>
          <a:prstGeom prst="ellipse">
            <a:avLst/>
          </a:prstGeom>
          <a:solidFill>
            <a:srgbClr val="E6F4F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7" name="Text 5"/>
          <p:cNvSpPr/>
          <p:nvPr/>
        </p:nvSpPr>
        <p:spPr>
          <a:xfrm>
            <a:off x="1005840" y="180136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fixed dtypes, converted dates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310896" cy="310896"/>
          </a:xfrm>
          <a:prstGeom prst="ellipse">
            <a:avLst/>
          </a:prstGeom>
          <a:solidFill>
            <a:srgbClr val="E6F4F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Discount range &amp; handled Profit outliers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310896" cy="310896"/>
          </a:xfrm>
          <a:prstGeom prst="ellipse">
            <a:avLst/>
          </a:prstGeom>
          <a:solidFill>
            <a:srgbClr val="E6F4F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13" name="Text 11"/>
          <p:cNvSpPr/>
          <p:nvPr/>
        </p:nvSpPr>
        <p:spPr>
          <a:xfrm>
            <a:off x="1005840" y="3118104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are right-skewed — small orders dominate volume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310896" cy="310896"/>
          </a:xfrm>
          <a:prstGeom prst="ellipse">
            <a:avLst/>
          </a:prstGeom>
          <a:solidFill>
            <a:srgbClr val="E6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16" name="Text 14"/>
          <p:cNvSpPr/>
          <p:nvPr/>
        </p:nvSpPr>
        <p:spPr>
          <a:xfrm>
            <a:off x="1005840" y="377647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↔ Profit correlation: -0.22 (negative)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07992"/>
            <a:ext cx="310896" cy="310896"/>
          </a:xfrm>
          <a:prstGeom prst="ellipse">
            <a:avLst/>
          </a:prstGeom>
          <a:solidFill>
            <a:srgbClr val="E6F4F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19" name="Text 17"/>
          <p:cNvSpPr/>
          <p:nvPr/>
        </p:nvSpPr>
        <p:spPr>
          <a:xfrm>
            <a:off x="1005840" y="443484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↔ Profit correlation: +0.48 (positive)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1417320"/>
            <a:ext cx="3611880" cy="2304288"/>
          </a:xfrm>
          <a:prstGeom prst="roundRect">
            <a:avLst>
              <a:gd name="adj" fmla="val 1984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</p:spPr>
      </p:sp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4840" y="1463040"/>
            <a:ext cx="3520440" cy="221284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046720" y="1417320"/>
            <a:ext cx="3611880" cy="2304288"/>
          </a:xfrm>
          <a:prstGeom prst="roundRect">
            <a:avLst>
              <a:gd name="adj" fmla="val 1984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</p:spPr>
      </p:sp>
      <p:pic>
        <p:nvPicPr>
          <p:cNvPr id="2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38160" y="1463040"/>
            <a:ext cx="3474720" cy="221284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389120" y="3767328"/>
            <a:ext cx="3611880" cy="2304288"/>
          </a:xfrm>
          <a:prstGeom prst="roundRect">
            <a:avLst>
              <a:gd name="adj" fmla="val 1984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</p:spPr>
      </p:sp>
      <p:pic>
        <p:nvPicPr>
          <p:cNvPr id="25" name="Image 2" descr="heatma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34840" y="3813048"/>
            <a:ext cx="3520440" cy="2212848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046720" y="3767328"/>
            <a:ext cx="3611880" cy="2304288"/>
          </a:xfrm>
          <a:prstGeom prst="roundRect">
            <a:avLst>
              <a:gd name="adj" fmla="val 1984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</p:spPr>
      </p:sp>
      <p:pic>
        <p:nvPicPr>
          <p:cNvPr id="27" name="Image 3" descr="discount_profit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2440" y="3813048"/>
            <a:ext cx="3520440" cy="22128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REPORTING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 / PivotChart based KPI dashboard, filterable by Category, Region &amp; Segment.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3776" y="1911096"/>
            <a:ext cx="7013448" cy="3922776"/>
          </a:xfrm>
          <a:prstGeom prst="roundRect">
            <a:avLst>
              <a:gd name="adj" fmla="val 1463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pic>
        <p:nvPicPr>
          <p:cNvPr id="6" name="Image 0" descr="Excel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59"/>
            <a:ext cx="6903720" cy="38079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2011680"/>
            <a:ext cx="3913632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8" name="Text 5"/>
          <p:cNvSpPr/>
          <p:nvPr/>
        </p:nvSpPr>
        <p:spPr>
          <a:xfrm>
            <a:off x="7909560" y="2084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09560" y="23317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₹22,96,195.59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26680" y="2798064"/>
            <a:ext cx="3913632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28712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09560" y="31181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₹2,86,241.42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26680" y="3584448"/>
            <a:ext cx="3913632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14" name="Text 11"/>
          <p:cNvSpPr/>
          <p:nvPr/>
        </p:nvSpPr>
        <p:spPr>
          <a:xfrm>
            <a:off x="790956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Margin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09560" y="39044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12.47%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26680" y="4370832"/>
            <a:ext cx="3913632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17" name="Text 14"/>
          <p:cNvSpPr/>
          <p:nvPr/>
        </p:nvSpPr>
        <p:spPr>
          <a:xfrm>
            <a:off x="7909560" y="44439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909560" y="46908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15.63%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726680" y="5157216"/>
            <a:ext cx="3913632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20" name="Text 17"/>
          <p:cNvSpPr/>
          <p:nvPr/>
        </p:nvSpPr>
        <p:spPr>
          <a:xfrm>
            <a:off x="7909560" y="5230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Orders at Loss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09560" y="54772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18.73%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ad-hoc aggregation used to answer targeted business questions.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309360" cy="4023360"/>
          </a:xfrm>
          <a:prstGeom prst="roundRect">
            <a:avLst>
              <a:gd name="adj" fmla="val 1818"/>
            </a:avLst>
          </a:prstGeom>
          <a:solidFill>
            <a:srgbClr val="0E1230"/>
          </a:solidFill>
          <a:ln w="12700">
            <a:solidFill>
              <a:srgbClr val="2A32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Sub-Categories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57607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Sub_Category,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SUM(Sales)  AS Total_Sales,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SUM(Profit) AS Total_Profit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superstore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Sub_Category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SUM(Profit) &lt; 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Total_Profit ASC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5760720" cy="0"/>
          </a:xfrm>
          <a:prstGeom prst="line">
            <a:avLst/>
          </a:prstGeom>
          <a:noFill/>
          <a:ln w="12700">
            <a:solidFill>
              <a:srgbClr val="2A32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5488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6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Binders (-31K), Tables (-21K) and Machines (-19K) are the largest loss contributors — despite strong sales volume.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78040" y="2011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ANSWERED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2377440"/>
            <a:ext cx="4480560" cy="603504"/>
          </a:xfrm>
          <a:prstGeom prst="roundRect">
            <a:avLst>
              <a:gd name="adj" fmla="val 9091"/>
            </a:avLst>
          </a:prstGeom>
          <a:solidFill>
            <a:srgbClr val="17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2423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profit &amp; margin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2679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on profit &amp; margin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78040" y="3090672"/>
            <a:ext cx="4480560" cy="603504"/>
          </a:xfrm>
          <a:prstGeom prst="roundRect">
            <a:avLst>
              <a:gd name="adj" fmla="val 9091"/>
            </a:avLst>
          </a:prstGeom>
          <a:solidFill>
            <a:srgbClr val="171B45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31363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loss sub-categories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0920" y="3392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Binders, Tables, Machines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3803904"/>
            <a:ext cx="4480560" cy="603504"/>
          </a:xfrm>
          <a:prstGeom prst="roundRect">
            <a:avLst>
              <a:gd name="adj" fmla="val 9091"/>
            </a:avLst>
          </a:prstGeom>
          <a:solidFill>
            <a:srgbClr val="171B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38496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41056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East outperform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4517136"/>
            <a:ext cx="4480560" cy="603504"/>
          </a:xfrm>
          <a:prstGeom prst="roundRect">
            <a:avLst>
              <a:gd name="adj" fmla="val 9091"/>
            </a:avLst>
          </a:prstGeom>
          <a:solidFill>
            <a:srgbClr val="171B45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45628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4818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profit turns negative past ~20–30% discount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78040" y="5230368"/>
            <a:ext cx="4480560" cy="603504"/>
          </a:xfrm>
          <a:prstGeom prst="roundRect">
            <a:avLst>
              <a:gd name="adj" fmla="val 9091"/>
            </a:avLst>
          </a:prstGeom>
          <a:solidFill>
            <a:srgbClr val="171B45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52760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Loss-order 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60920" y="5532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18.73% of orders unprofitable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/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93776" y="1792224"/>
            <a:ext cx="7150608" cy="4058628"/>
          </a:xfrm>
          <a:prstGeom prst="roundRect">
            <a:avLst>
              <a:gd name="adj" fmla="val 1352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pic>
        <p:nvPicPr>
          <p:cNvPr id="8" name="Image 0" descr="Screenshot_2026-08-07_1039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7040880" cy="39489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01000" y="1847088"/>
            <a:ext cx="3639312" cy="863781"/>
          </a:xfrm>
          <a:prstGeom prst="roundRect">
            <a:avLst>
              <a:gd name="adj" fmla="val 6352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8147304" y="2224115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1920240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KPIs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366760" y="2194560"/>
            <a:ext cx="3136392" cy="4523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2.30M, Total Profit 286.24K, 38K units, Avg. Discount 15.63%, Profit Margin 12.01%.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1000" y="2875461"/>
            <a:ext cx="3639312" cy="863781"/>
          </a:xfrm>
          <a:prstGeom prst="roundRect">
            <a:avLst>
              <a:gd name="adj" fmla="val 6352"/>
            </a:avLst>
          </a:prstGeom>
          <a:solidFill>
            <a:srgbClr val="F4F7FC"/>
          </a:solidFill>
          <a:ln/>
        </p:spPr>
      </p:sp>
      <p:sp>
        <p:nvSpPr>
          <p:cNvPr id="14" name="Shape 11"/>
          <p:cNvSpPr/>
          <p:nvPr/>
        </p:nvSpPr>
        <p:spPr>
          <a:xfrm>
            <a:off x="8147304" y="325248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2948613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Map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366760" y="3222933"/>
            <a:ext cx="3136392" cy="4523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U.S. map showing sales concentration by Region.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01000" y="3903834"/>
            <a:ext cx="3639312" cy="863781"/>
          </a:xfrm>
          <a:prstGeom prst="roundRect">
            <a:avLst>
              <a:gd name="adj" fmla="val 6352"/>
            </a:avLst>
          </a:prstGeom>
          <a:solidFill>
            <a:srgbClr val="F4F7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147304" y="4280861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8366760" y="3976986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Segment Mix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66760" y="4251306"/>
            <a:ext cx="3136392" cy="4523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Category donut: Technology 50.8%, Office Supplies 42.8%, Furniture 6.4%; Segment split led by Consumer at 50.6%.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01000" y="4932207"/>
            <a:ext cx="3639312" cy="863781"/>
          </a:xfrm>
          <a:prstGeom prst="roundRect">
            <a:avLst>
              <a:gd name="adj" fmla="val 6352"/>
            </a:avLst>
          </a:prstGeom>
          <a:solidFill>
            <a:srgbClr val="F4F7FC"/>
          </a:solidFill>
          <a:ln/>
        </p:spPr>
      </p:sp>
      <p:sp>
        <p:nvSpPr>
          <p:cNvPr id="22" name="Shape 19"/>
          <p:cNvSpPr/>
          <p:nvPr/>
        </p:nvSpPr>
        <p:spPr>
          <a:xfrm>
            <a:off x="8147304" y="530923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5005359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 Distribution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366760" y="5279679"/>
            <a:ext cx="3136392" cy="4523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dominates fulfillment at 59.1% of shipments.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/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93776" y="1792224"/>
            <a:ext cx="7150608" cy="4047324"/>
          </a:xfrm>
          <a:prstGeom prst="roundRect">
            <a:avLst>
              <a:gd name="adj" fmla="val 1356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pic>
        <p:nvPicPr>
          <p:cNvPr id="8" name="Image 0" descr="Screenshot_2026-08-07_1039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7040880" cy="39375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01000" y="1847088"/>
            <a:ext cx="3639312" cy="1202804"/>
          </a:xfrm>
          <a:prstGeom prst="roundRect">
            <a:avLst>
              <a:gd name="adj" fmla="val 4561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8147304" y="239362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1920240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366760" y="2194560"/>
            <a:ext cx="3136392" cy="791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(836K), ahead of Furniture (741K) and Office Supplies (719K).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1000" y="3214484"/>
            <a:ext cx="3639312" cy="1202804"/>
          </a:xfrm>
          <a:prstGeom prst="roundRect">
            <a:avLst>
              <a:gd name="adj" fmla="val 4561"/>
            </a:avLst>
          </a:prstGeom>
          <a:solidFill>
            <a:srgbClr val="F4F7FC"/>
          </a:solidFill>
          <a:ln/>
        </p:spPr>
      </p:sp>
      <p:sp>
        <p:nvSpPr>
          <p:cNvPr id="14" name="Shape 11"/>
          <p:cNvSpPr/>
          <p:nvPr/>
        </p:nvSpPr>
        <p:spPr>
          <a:xfrm>
            <a:off x="8147304" y="376102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3287636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Sub-Category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366760" y="3561956"/>
            <a:ext cx="3136392" cy="791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(330K) and Chairs (328K) are the top two sub-categories, down to Furnishings (92K).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01000" y="4581880"/>
            <a:ext cx="3639312" cy="1202804"/>
          </a:xfrm>
          <a:prstGeom prst="roundRect">
            <a:avLst>
              <a:gd name="adj" fmla="val 4561"/>
            </a:avLst>
          </a:prstGeom>
          <a:solidFill>
            <a:srgbClr val="F4F7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147304" y="512841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8366760" y="4655032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66760" y="4929352"/>
            <a:ext cx="3136392" cy="791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(458K) and New York (311K) are by far the largest state markets, ahead of Texas, Washington &amp; Pennsylvania.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/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Analysis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93776" y="1792224"/>
            <a:ext cx="7150608" cy="4051210"/>
          </a:xfrm>
          <a:prstGeom prst="roundRect">
            <a:avLst>
              <a:gd name="adj" fmla="val 1354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pic>
        <p:nvPicPr>
          <p:cNvPr id="8" name="Image 0" descr="Screenshot_2026-08-07_104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7040880" cy="39414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01000" y="1847088"/>
            <a:ext cx="3639312" cy="861926"/>
          </a:xfrm>
          <a:prstGeom prst="roundRect">
            <a:avLst>
              <a:gd name="adj" fmla="val 6365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8147304" y="2223187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1920240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Region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366760" y="2194560"/>
            <a:ext cx="3136392" cy="450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(108K) and East (92K) rank well ahead of South (47K) and Central (40K).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1000" y="2873606"/>
            <a:ext cx="3639312" cy="861926"/>
          </a:xfrm>
          <a:prstGeom prst="roundRect">
            <a:avLst>
              <a:gd name="adj" fmla="val 6365"/>
            </a:avLst>
          </a:prstGeom>
          <a:solidFill>
            <a:srgbClr val="F4F7FC"/>
          </a:solidFill>
          <a:ln/>
        </p:spPr>
      </p:sp>
      <p:sp>
        <p:nvSpPr>
          <p:cNvPr id="14" name="Shape 11"/>
          <p:cNvSpPr/>
          <p:nvPr/>
        </p:nvSpPr>
        <p:spPr>
          <a:xfrm>
            <a:off x="8147304" y="324970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2946758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Category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366760" y="3221078"/>
            <a:ext cx="3136392" cy="450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(145K) and Office Supplies (122K) dominate; Furniture contributes only a sliver.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01000" y="3900125"/>
            <a:ext cx="3639312" cy="861926"/>
          </a:xfrm>
          <a:prstGeom prst="roundRect">
            <a:avLst>
              <a:gd name="adj" fmla="val 6365"/>
            </a:avLst>
          </a:prstGeom>
          <a:solidFill>
            <a:srgbClr val="F4F7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147304" y="427622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8366760" y="3973277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Segment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66760" y="4247597"/>
            <a:ext cx="3136392" cy="450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49.5%, Corporate 28.3%, Home Office 22.2%.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01000" y="4926643"/>
            <a:ext cx="3639312" cy="861926"/>
          </a:xfrm>
          <a:prstGeom prst="roundRect">
            <a:avLst>
              <a:gd name="adj" fmla="val 6365"/>
            </a:avLst>
          </a:prstGeom>
          <a:solidFill>
            <a:srgbClr val="F4F7FC"/>
          </a:solidFill>
          <a:ln/>
        </p:spPr>
      </p:sp>
      <p:sp>
        <p:nvSpPr>
          <p:cNvPr id="22" name="Shape 19"/>
          <p:cNvSpPr/>
          <p:nvPr/>
        </p:nvSpPr>
        <p:spPr>
          <a:xfrm>
            <a:off x="8147304" y="5302743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999795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Sub-Categories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366760" y="5274115"/>
            <a:ext cx="3136392" cy="450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 (-31K), Tables (-21K) and Machines (-19K) are the largest loss contributors.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/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Analysis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93776" y="1792224"/>
            <a:ext cx="7150608" cy="4045898"/>
          </a:xfrm>
          <a:prstGeom prst="roundRect">
            <a:avLst>
              <a:gd name="adj" fmla="val 1356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pic>
        <p:nvPicPr>
          <p:cNvPr id="8" name="Image 0" descr="Screenshot_2026-08-07_1040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7040880" cy="393617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01000" y="1847088"/>
            <a:ext cx="3639312" cy="1202329"/>
          </a:xfrm>
          <a:prstGeom prst="roundRect">
            <a:avLst>
              <a:gd name="adj" fmla="val 4563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8147304" y="239338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1920240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Profit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366760" y="2194560"/>
            <a:ext cx="3136392" cy="7908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clusters positive near 0% discount and trends toward loss as discount rises, especially past 60-70%.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1000" y="3214009"/>
            <a:ext cx="3639312" cy="1202329"/>
          </a:xfrm>
          <a:prstGeom prst="roundRect">
            <a:avLst>
              <a:gd name="adj" fmla="val 4563"/>
            </a:avLst>
          </a:prstGeom>
          <a:solidFill>
            <a:srgbClr val="F4F7FC"/>
          </a:solidFill>
          <a:ln/>
        </p:spPr>
      </p:sp>
      <p:sp>
        <p:nvSpPr>
          <p:cNvPr id="14" name="Shape 11"/>
          <p:cNvSpPr/>
          <p:nvPr/>
        </p:nvSpPr>
        <p:spPr>
          <a:xfrm>
            <a:off x="8147304" y="3760309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3287161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Distribution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366760" y="3561481"/>
            <a:ext cx="3136392" cy="7908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 of orders carry 0-10% discount; 34.5% carry 10-20%; a combined 15.8% receive 20%+.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01000" y="4580930"/>
            <a:ext cx="3639312" cy="1202329"/>
          </a:xfrm>
          <a:prstGeom prst="roundRect">
            <a:avLst>
              <a:gd name="adj" fmla="val 4563"/>
            </a:avLst>
          </a:prstGeom>
          <a:solidFill>
            <a:srgbClr val="F4F7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147304" y="512723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8366760" y="4654082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 by Category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66760" y="4928402"/>
            <a:ext cx="3136392" cy="7908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receives the steepest average discount (20.0%), ahead of Office Supplies (18.0%) and Technology (15.3%).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/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 Page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93776" y="1792224"/>
            <a:ext cx="7150608" cy="4048899"/>
          </a:xfrm>
          <a:prstGeom prst="roundRect">
            <a:avLst>
              <a:gd name="adj" fmla="val 1355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8896B5">
                <a:alpha val="25000"/>
              </a:srgbClr>
            </a:outerShdw>
          </a:effectLst>
        </p:spPr>
      </p:sp>
      <p:pic>
        <p:nvPicPr>
          <p:cNvPr id="8" name="Image 0" descr="Screenshot_2026-08-07_1040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7040880" cy="393917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01000" y="1847088"/>
            <a:ext cx="3639312" cy="1203329"/>
          </a:xfrm>
          <a:prstGeom prst="roundRect">
            <a:avLst>
              <a:gd name="adj" fmla="val 4559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8147304" y="239388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1920240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↔ Actions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366760" y="2194560"/>
            <a:ext cx="3136392" cy="7918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Two-column layout pairs each key finding directly with its recommended action.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1000" y="3215009"/>
            <a:ext cx="3639312" cy="1203329"/>
          </a:xfrm>
          <a:prstGeom prst="roundRect">
            <a:avLst>
              <a:gd name="adj" fmla="val 4559"/>
            </a:avLst>
          </a:prstGeom>
          <a:solidFill>
            <a:srgbClr val="F4F7FC"/>
          </a:solidFill>
          <a:ln/>
        </p:spPr>
      </p:sp>
      <p:sp>
        <p:nvSpPr>
          <p:cNvPr id="14" name="Shape 11"/>
          <p:cNvSpPr/>
          <p:nvPr/>
        </p:nvSpPr>
        <p:spPr>
          <a:xfrm>
            <a:off x="8147304" y="3761809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3288161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Stakeholders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366760" y="3562481"/>
            <a:ext cx="3136392" cy="7918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business users see not just what the data shows, but what it implies.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01000" y="4582930"/>
            <a:ext cx="3639312" cy="1203329"/>
          </a:xfrm>
          <a:prstGeom prst="roundRect">
            <a:avLst>
              <a:gd name="adj" fmla="val 4559"/>
            </a:avLst>
          </a:prstGeom>
          <a:solidFill>
            <a:srgbClr val="F4F7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147304" y="512973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8366760" y="4656082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66760" y="4930402"/>
            <a:ext cx="3136392" cy="7918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structure this presentation itself follows — insights, then recommendations.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21808" cy="1078992"/>
          </a:xfrm>
          <a:prstGeom prst="roundRect">
            <a:avLst>
              <a:gd name="adj" fmla="val 6780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01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🡑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17320" y="1636776"/>
            <a:ext cx="4270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drives profit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002536"/>
            <a:ext cx="4270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 of total profit; lowest average discount of the 3 categories.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321808" cy="1078992"/>
          </a:xfrm>
          <a:prstGeom prst="roundRect">
            <a:avLst>
              <a:gd name="adj" fmla="val 6780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801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🡓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6995160" y="1636776"/>
            <a:ext cx="4270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underperforms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2002536"/>
            <a:ext cx="4270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matches Technology on sales but earns only ~6% of profit.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5321808" cy="1078992"/>
          </a:xfrm>
          <a:prstGeom prst="roundRect">
            <a:avLst>
              <a:gd name="adj" fmla="val 6780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0815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417320" y="2916936"/>
            <a:ext cx="4270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East lead regions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282696"/>
            <a:ext cx="4270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contribute 60%+ of sales and ~200K of total profit.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788920"/>
            <a:ext cx="5321808" cy="1078992"/>
          </a:xfrm>
          <a:prstGeom prst="roundRect">
            <a:avLst>
              <a:gd name="adj" fmla="val 6780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0815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6995160" y="2916936"/>
            <a:ext cx="4270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dominates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282696"/>
            <a:ext cx="4270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 of total profit — nearly half — vs. Corporate &amp; Home Office.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5321808" cy="1078992"/>
          </a:xfrm>
          <a:prstGeom prst="roundRect">
            <a:avLst>
              <a:gd name="adj" fmla="val 6780"/>
            </a:avLst>
          </a:prstGeom>
          <a:solidFill>
            <a:srgbClr val="F4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361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％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1417320" y="4197096"/>
            <a:ext cx="4270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erodes margin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562856"/>
            <a:ext cx="4270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-0.22; profit turns negative past ~20–30% discount.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4069080"/>
            <a:ext cx="5321808" cy="1078992"/>
          </a:xfrm>
          <a:prstGeom prst="roundRect">
            <a:avLst>
              <a:gd name="adj" fmla="val 6780"/>
            </a:avLst>
          </a:prstGeom>
          <a:solidFill>
            <a:srgbClr val="F4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4361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6995160" y="4197096"/>
            <a:ext cx="4270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18.73% of orders lose money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4562856"/>
            <a:ext cx="4270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quantifiable, addressable drag on overall profitability.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5321808" cy="1078992"/>
          </a:xfrm>
          <a:prstGeom prst="roundRect">
            <a:avLst>
              <a:gd name="adj" fmla="val 6780"/>
            </a:avLst>
          </a:prstGeom>
          <a:solidFill>
            <a:srgbClr val="F4F7FC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5641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641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430" dirty="0"/>
          </a:p>
        </p:txBody>
      </p:sp>
      <p:sp>
        <p:nvSpPr>
          <p:cNvPr id="37" name="Text 35"/>
          <p:cNvSpPr/>
          <p:nvPr/>
        </p:nvSpPr>
        <p:spPr>
          <a:xfrm>
            <a:off x="1417320" y="5477256"/>
            <a:ext cx="4270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sub-categories bleed profit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17320" y="5843016"/>
            <a:ext cx="4270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Binders, Tables &amp; Machines are chronic loss-makers.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5349240"/>
            <a:ext cx="5321808" cy="1078992"/>
          </a:xfrm>
          <a:prstGeom prst="roundRect">
            <a:avLst>
              <a:gd name="adj" fmla="val 6780"/>
            </a:avLst>
          </a:prstGeom>
          <a:solidFill>
            <a:srgbClr val="F4F7FC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5641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5641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1430" dirty="0"/>
          </a:p>
        </p:txBody>
      </p:sp>
      <p:sp>
        <p:nvSpPr>
          <p:cNvPr id="42" name="Text 40"/>
          <p:cNvSpPr/>
          <p:nvPr/>
        </p:nvSpPr>
        <p:spPr>
          <a:xfrm>
            <a:off x="6995160" y="5477256"/>
            <a:ext cx="4270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dominates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95160" y="5843016"/>
            <a:ext cx="4270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59.1% of shipments — concentrated logistics cost structure.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481328"/>
            <a:ext cx="4681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discount governance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84708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Cap/require approval above 20–30% discount.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560320"/>
            <a:ext cx="4681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loss-making sub-categories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926080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Binders, Tables, Machines &amp; others.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39312"/>
            <a:ext cx="4681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Re-balance Furniture discounting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4005072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blanket discounts; use bundling instead.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457200" cy="45720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4718304"/>
            <a:ext cx="4681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Technology &amp; Office Supplies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5084064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marketing &amp; inventory investment here.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508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48272" y="1481328"/>
            <a:ext cx="4681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West &amp; East investment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48272" y="1847088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Central &amp; South underperformance first.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587752"/>
            <a:ext cx="457200" cy="45720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48272" y="2560320"/>
            <a:ext cx="4681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Consumer engagement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48272" y="2926080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retention programs for the top segment.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6667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48272" y="3639312"/>
            <a:ext cx="4681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loss-order rate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48272" y="4005072"/>
            <a:ext cx="4681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18.73% a recurring KPI on both dashboards.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recommendations targets the two biggest controllable levers on profit: discount policy and loss-making sub-categories.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141A4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87752"/>
            <a:ext cx="2542032" cy="246888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3172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Loss-Order Rate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21762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18.73% via discount caps &amp; pricing review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233172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141A4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73552" y="233172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73552" y="2587752"/>
            <a:ext cx="2542032" cy="246888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73552" y="233172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273552" y="233172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301752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on Furniture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56432" y="3931920"/>
            <a:ext cx="21762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cutting its 20% avg. discount toward category norms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98464" y="233172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141A45"/>
          </a:solidFill>
          <a:ln/>
        </p:spPr>
      </p:sp>
      <p:sp>
        <p:nvSpPr>
          <p:cNvPr id="20" name="Shape 18"/>
          <p:cNvSpPr/>
          <p:nvPr/>
        </p:nvSpPr>
        <p:spPr>
          <a:xfrm>
            <a:off x="5998464" y="233172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5998464" y="2587752"/>
            <a:ext cx="2542032" cy="246888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98464" y="233172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998464" y="233172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81344" y="301752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Sub-Category Losses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81344" y="3931920"/>
            <a:ext cx="21762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Binders, Tables &amp; Machines through re-pricing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23376" y="233172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141A45"/>
          </a:solidFill>
          <a:ln/>
        </p:spPr>
      </p:sp>
      <p:sp>
        <p:nvSpPr>
          <p:cNvPr id="27" name="Shape 25"/>
          <p:cNvSpPr/>
          <p:nvPr/>
        </p:nvSpPr>
        <p:spPr>
          <a:xfrm>
            <a:off x="8723376" y="233172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28" name="Shape 26"/>
          <p:cNvSpPr/>
          <p:nvPr/>
        </p:nvSpPr>
        <p:spPr>
          <a:xfrm>
            <a:off x="8723376" y="2587752"/>
            <a:ext cx="2542032" cy="246888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29" name="Shape 27"/>
          <p:cNvSpPr/>
          <p:nvPr/>
        </p:nvSpPr>
        <p:spPr>
          <a:xfrm>
            <a:off x="8723376" y="233172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8723376" y="233172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06256" y="301752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High-Margin Categories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06256" y="3931920"/>
            <a:ext cx="21762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shifting investment toward Technology &amp; Office Supplies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77949" y="-2199132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Superstore's revenue base is healthy and diversified — but profitability is being materially eroded by uncontrolled discounting and a small set of chronically loss-making sub-categories, particularly within Furniture.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Office Supplies, the West &amp; East regions, and the Consumer segment are Superstore's core strengths and should anchor future growth — while tightening discount policy and re-pricing loss-makers represents a concrete, sizable opportunity to lift margin without needing any increase in sales volume.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12700">
            <a:solidFill>
              <a:srgbClr val="343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389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analytical layers — Python, SQL, Excel and Power BI — cross-validated one another at every step, giving high confidence in these findings.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93008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81965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19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508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forecasting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898648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models (Prophet/ARIMA) by category &amp; region.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42816" y="1600200"/>
            <a:ext cx="3493008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62272" y="181965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819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508" dirty="0"/>
          </a:p>
        </p:txBody>
      </p:sp>
      <p:sp>
        <p:nvSpPr>
          <p:cNvPr id="12" name="Text 10"/>
          <p:cNvSpPr/>
          <p:nvPr/>
        </p:nvSpPr>
        <p:spPr>
          <a:xfrm>
            <a:off x="4443984" y="246888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43984" y="2898648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/ clustering for high-value customer targeting.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36992" y="1600200"/>
            <a:ext cx="3493008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56448" y="181965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819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</a:t>
            </a:r>
            <a:endParaRPr lang="en-US" sz="1508" dirty="0"/>
          </a:p>
        </p:txBody>
      </p:sp>
      <p:sp>
        <p:nvSpPr>
          <p:cNvPr id="17" name="Text 15"/>
          <p:cNvSpPr/>
          <p:nvPr/>
        </p:nvSpPr>
        <p:spPr>
          <a:xfrm>
            <a:off x="8138160" y="246888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optimization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2898648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Price-elasticity model for sub-category-level discount caps.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493008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" y="396849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968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8" dirty="0"/>
          </a:p>
        </p:txBody>
      </p:sp>
      <p:sp>
        <p:nvSpPr>
          <p:cNvPr id="22" name="Text 20"/>
          <p:cNvSpPr/>
          <p:nvPr/>
        </p:nvSpPr>
        <p:spPr>
          <a:xfrm>
            <a:off x="749808" y="461772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5047488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from Python → SQL → Power BI.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42816" y="3749040"/>
            <a:ext cx="3493008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462272" y="396849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968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508" dirty="0"/>
          </a:p>
        </p:txBody>
      </p:sp>
      <p:sp>
        <p:nvSpPr>
          <p:cNvPr id="27" name="Text 25"/>
          <p:cNvSpPr/>
          <p:nvPr/>
        </p:nvSpPr>
        <p:spPr>
          <a:xfrm>
            <a:off x="4443984" y="461772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reporting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43984" y="5047488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Region/category drill-down to product &amp; customer level.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36992" y="3749040"/>
            <a:ext cx="3493008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156448" y="396849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156448" y="3968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508" dirty="0"/>
          </a:p>
        </p:txBody>
      </p:sp>
      <p:sp>
        <p:nvSpPr>
          <p:cNvPr id="32" name="Text 30"/>
          <p:cNvSpPr/>
          <p:nvPr/>
        </p:nvSpPr>
        <p:spPr>
          <a:xfrm>
            <a:off x="8138160" y="461772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enrichment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38160" y="5047488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spend, competitor pricing &amp; macro indicators.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&amp; Marketing Analytics — SQL · Python · Excel · Power BI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64128" y="4480560"/>
            <a:ext cx="1033272" cy="438912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4128" y="4480560"/>
            <a:ext cx="1033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53432" y="4480560"/>
            <a:ext cx="676656" cy="438912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3432" y="4480560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6120" y="4480560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6120" y="44805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56552" y="4480560"/>
            <a:ext cx="1271016" cy="438912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6552" y="4480560"/>
            <a:ext cx="1271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1790</Words>
  <Application>Microsoft Office PowerPoint</Application>
  <PresentationFormat>Widescreen</PresentationFormat>
  <Paragraphs>356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Govind Garg</cp:lastModifiedBy>
  <cp:revision>3</cp:revision>
  <dcterms:created xsi:type="dcterms:W3CDTF">2026-08-08T06:00:50Z</dcterms:created>
  <dcterms:modified xsi:type="dcterms:W3CDTF">2026-08-15T06:08:14Z</dcterms:modified>
</cp:coreProperties>
</file>